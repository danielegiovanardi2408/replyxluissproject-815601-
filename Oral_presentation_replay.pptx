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829-684A-8D97-7DFE81BAFDC9}"/>
              </c:ext>
            </c:extLst>
          </c:dPt>
          <c:dPt>
            <c:idx val="1"/>
            <c:bubble3D val="0"/>
            <c:spPr>
              <a:solidFill>
                <a:srgbClr val="2C7D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29-684A-8D97-7DFE81BAFDC9}"/>
              </c:ext>
            </c:extLst>
          </c:dPt>
          <c:dPt>
            <c:idx val="2"/>
            <c:bubble3D val="0"/>
            <c:spPr>
              <a:solidFill>
                <a:srgbClr val="0E2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829-684A-8D97-7DFE81BAFDC9}"/>
              </c:ext>
            </c:extLst>
          </c:dPt>
          <c:dPt>
            <c:idx val="3"/>
            <c:bubble3D val="0"/>
            <c:spPr>
              <a:solidFill>
                <a:srgbClr val="5BA3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829-684A-8D97-7DFE81BAFDC9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829-684A-8D97-7DFE81BAFDC9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829-684A-8D97-7DFE81BAFDC9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829-684A-8D97-7DFE81BAFDC9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829-684A-8D97-7DFE81BAFDC9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IsolationForest 0.35</c:v>
                </c:pt>
                <c:pt idx="1">
                  <c:v>LocalOutlierFactor 0.30</c:v>
                </c:pt>
                <c:pt idx="2">
                  <c:v>Autoencoder MLP 0.20</c:v>
                </c:pt>
                <c:pt idx="3">
                  <c:v>Robust MAD z-score 0.15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</c:v>
                </c:pt>
                <c:pt idx="1">
                  <c:v>0.3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829-684A-8D97-7DFE81BAFD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E294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Routes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E2942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ALTA</c:v>
                </c:pt>
                <c:pt idx="1">
                  <c:v>MEDIA</c:v>
                </c:pt>
                <c:pt idx="2">
                  <c:v>NORMALE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40</c:v>
                </c:pt>
                <c:pt idx="2">
                  <c:v>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80-2F45-9CE7-F7556C343B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29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C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E2942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IF</c:v>
                </c:pt>
                <c:pt idx="1">
                  <c:v>LOF</c:v>
                </c:pt>
                <c:pt idx="2">
                  <c:v>Z (MAD)</c:v>
                </c:pt>
                <c:pt idx="3">
                  <c:v>AE</c:v>
                </c:pt>
                <c:pt idx="4">
                  <c:v>Ensemble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0.96630000000000005</c:v>
                </c:pt>
                <c:pt idx="4">
                  <c:v>0.99650000000000005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1B-6148-A836-D8F8DE8E9D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9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C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82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 E P L Y   ×   L U I S S   ·   P R O J E C T   2   ·   2 0 2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Classical vs Multi-Agent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Anomaly Detection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architectures, one detection problem — what changes, what stays the same.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6126480" cy="11887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77724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 E A 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5440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Daniele Giovanardi  ·  Filippo Nannucci  ·  Edoardo Riva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74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Italian airport border alarms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567 routes  ·  54 engineered features  ·  3 months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brief — what Reply asked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whether to do anomaly detection. With which software paradigm.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 X P L I C I T   A S K 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Classical pipeline — sequential notebooks with IsolationForest, LOF, or Z-score on a historical baseline.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Multi-agent system — 5 agents (Data, Baseline, Outlier, Risk, Report) with explicit shared-state communication.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Architectural comparison — coherent detection, orchestration trade-offs, recommendation by use case.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Deliverables — single end-to-end notebook, README, oral PPTX.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659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 M P L I C I T   ( T H E   T R U E   G A M E 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92240" y="251460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Numbers must converge, divergence means a bug. Convergence is the certificate of correctness.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architectural difference must show up elsewhere (operability, modularity, explainability, reuse, maintenance).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dataset is real but small (567×13), heavy temporal models like STL are dishonest.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BRIEF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data — Italian airport borders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raw CSVs, joined on route × month → one analysis grain.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ALLARMI.csv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row per check alarm: source (Interpol, SDI, NSIS), outcome, year-month.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657600" cy="12801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74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TIPOLOGIA_VIAGGIATORE.csv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 route-month: travellers entered, alarmed, investigated.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06240" y="2468880"/>
            <a:ext cx="548640" cy="0"/>
          </a:xfrm>
          <a:prstGeom prst="line">
            <a:avLst/>
          </a:prstGeom>
          <a:noFill/>
          <a:ln w="1905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9"/>
          <p:cNvSpPr/>
          <p:nvPr/>
        </p:nvSpPr>
        <p:spPr>
          <a:xfrm>
            <a:off x="4206240" y="3931920"/>
            <a:ext cx="548640" cy="0"/>
          </a:xfrm>
          <a:prstGeom prst="line">
            <a:avLst/>
          </a:prstGeom>
          <a:noFill/>
          <a:ln w="1905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0"/>
          <p:cNvSpPr/>
          <p:nvPr/>
        </p:nvSpPr>
        <p:spPr>
          <a:xfrm>
            <a:off x="4754880" y="2468880"/>
            <a:ext cx="0" cy="1463040"/>
          </a:xfrm>
          <a:prstGeom prst="line">
            <a:avLst/>
          </a:prstGeom>
          <a:noFill/>
          <a:ln w="1905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1"/>
          <p:cNvSpPr/>
          <p:nvPr/>
        </p:nvSpPr>
        <p:spPr>
          <a:xfrm>
            <a:off x="4754880" y="3200400"/>
            <a:ext cx="548640" cy="0"/>
          </a:xfrm>
          <a:prstGeom prst="line">
            <a:avLst/>
          </a:prstGeom>
          <a:noFill/>
          <a:ln w="1905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2"/>
          <p:cNvSpPr/>
          <p:nvPr/>
        </p:nvSpPr>
        <p:spPr>
          <a:xfrm>
            <a:off x="5303520" y="2743200"/>
            <a:ext cx="1828800" cy="91440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3"/>
          <p:cNvSpPr/>
          <p:nvPr/>
        </p:nvSpPr>
        <p:spPr>
          <a:xfrm>
            <a:off x="530352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merge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3035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route × year × month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8638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N A L Y S I S   G R A I 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86384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ROUTE = origin → destination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86384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e.g.  CMN → FCO  (Casablanca → Rome Fiumicino)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863840" y="3337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567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786384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unique routes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0058400" y="3337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54</a:t>
            </a:r>
            <a:endParaRPr lang="en-US" sz="3600" dirty="0"/>
          </a:p>
        </p:txBody>
      </p:sp>
      <p:sp>
        <p:nvSpPr>
          <p:cNvPr id="25" name="Text 21"/>
          <p:cNvSpPr/>
          <p:nvPr/>
        </p:nvSpPr>
        <p:spPr>
          <a:xfrm>
            <a:off x="100584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numeric features / row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3"/>
          <p:cNvSpPr/>
          <p:nvPr/>
        </p:nvSpPr>
        <p:spPr>
          <a:xfrm>
            <a:off x="868680" y="5212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 U S I N E S S   Q U E S T I O 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206240" y="51663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 this route doing something anomalous compared to the others?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we delivered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repo, two pipelines, shared core, runnable end-to-end.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057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main.ipynb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219 cells, 0 errors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Single end-to-end notebook: EDA, preprocessing, both pipelines, comparison, robustness.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57600" cy="2057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classical_pipeline/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25780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sequential steps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0" y="26517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Orchestrator + step functions extracted from notebooks 01–06.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57600" cy="2057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9202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256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multiagent_pipeline/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05256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agents + verifier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366760" y="26517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LangGraph: data, baseline, outlier, supervisor, risk, report.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57600" cy="2057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6052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shared/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46304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preprocessing.py + FeatureBuilder used by both pipelines — no drift.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657600" cy="2057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16052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780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streamlit_app/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25780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demo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0" y="48920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tabs, runtime perimeter filter, on-demand LLM narratives.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57600" cy="2057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160520"/>
            <a:ext cx="548640" cy="5486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5256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README + PPTX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90525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audit-friendly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366760" y="48920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21 KB README with architecture map, key numbers, design rationale, file map.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Classical pipeline — 6 sequential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Linear orchestrator. Each step persists to disk. Audit-friendly. ~3 s end-to-end.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0928" y="1828800"/>
            <a:ext cx="640080" cy="64008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102092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9428" y="2606040"/>
            <a:ext cx="178308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449428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0868" y="31546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merge 2 CSVs, fix types, ND codes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86788" y="3154680"/>
            <a:ext cx="118872" cy="274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2922880" y="1828800"/>
            <a:ext cx="640080" cy="64008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29228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51380" y="2606040"/>
            <a:ext cx="178308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235138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42820" y="31546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FeatureBuilder → 54 numeric / route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88740" y="3154680"/>
            <a:ext cx="118872" cy="274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4824832" y="1828800"/>
            <a:ext cx="640080" cy="64008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482483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253332" y="2606040"/>
            <a:ext cx="178308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4253332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4772" y="31546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Robust MAD z-score + Tukey audit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90692" y="3154680"/>
            <a:ext cx="118872" cy="274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6726784" y="1828800"/>
            <a:ext cx="640080" cy="64008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672678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155284" y="2606040"/>
            <a:ext cx="178308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6155284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6724" y="31546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Ensemble: IF · LOF · Z · AE → p97/p90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92644" y="3154680"/>
            <a:ext cx="118872" cy="274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8628736" y="1828800"/>
            <a:ext cx="640080" cy="64008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862873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057236" y="2606040"/>
            <a:ext cx="178308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8057236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 Profile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48676" y="31546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business rules · 60% ML + 40% rules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94596" y="3154680"/>
            <a:ext cx="118872" cy="274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10530688" y="1828800"/>
            <a:ext cx="640080" cy="64008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1053068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9959188" y="2606040"/>
            <a:ext cx="178308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9959188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0628" y="31546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Silhouette · bootstrap · SHAP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2580" y="4937760"/>
            <a:ext cx="2697480" cy="109728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522580" y="5102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 i n e a 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9740" y="5532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step needs the previous.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38932" y="4937760"/>
            <a:ext cx="2697480" cy="109728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3338932" y="5102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 e p r o d u c i b l 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76092" y="5532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random_state = 42 everywhere.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55284" y="4937760"/>
            <a:ext cx="2697480" cy="109728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6155284" y="5102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 a s 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92444" y="5532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~3 s end-to-end, 567 routes.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971636" y="4937760"/>
            <a:ext cx="2697480" cy="109728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8971636" y="5102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u d i t a b l 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108796" y="5532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step persists CSV / JSON.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CLASSICAL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Multi-agent pipeline (LangGraph)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Same detection logic, restated as a graph of specialised agents over a shared state.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691640"/>
            <a:ext cx="2194560" cy="1097280"/>
          </a:xfrm>
          <a:prstGeom prst="rect">
            <a:avLst/>
          </a:prstGeom>
          <a:solidFill>
            <a:srgbClr val="D68A1F"/>
          </a:solidFill>
          <a:ln w="12700">
            <a:solidFill>
              <a:srgbClr val="D68A1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235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Supervisor (verifier)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6636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optional · refit IF @ 3% on ALTA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26480" y="2788920"/>
            <a:ext cx="0" cy="457200"/>
          </a:xfrm>
          <a:prstGeom prst="line">
            <a:avLst/>
          </a:prstGeom>
          <a:noFill/>
          <a:ln w="25400">
            <a:solidFill>
              <a:srgbClr val="D68A1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6"/>
          <p:cNvSpPr/>
          <p:nvPr/>
        </p:nvSpPr>
        <p:spPr>
          <a:xfrm>
            <a:off x="572872" y="3246120"/>
            <a:ext cx="2011680" cy="1417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252" y="341071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2872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4312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filter · features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584552" y="3950208"/>
            <a:ext cx="246888" cy="0"/>
          </a:xfrm>
          <a:prstGeom prst="line">
            <a:avLst/>
          </a:prstGeom>
          <a:noFill/>
          <a:ln w="1905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0"/>
          <p:cNvSpPr/>
          <p:nvPr/>
        </p:nvSpPr>
        <p:spPr>
          <a:xfrm>
            <a:off x="2831440" y="3246120"/>
            <a:ext cx="2011680" cy="1417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820" y="341071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31440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922880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MAD z-score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43120" y="3950208"/>
            <a:ext cx="246888" cy="0"/>
          </a:xfrm>
          <a:prstGeom prst="line">
            <a:avLst/>
          </a:prstGeom>
          <a:noFill/>
          <a:ln w="1905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4"/>
          <p:cNvSpPr/>
          <p:nvPr/>
        </p:nvSpPr>
        <p:spPr>
          <a:xfrm>
            <a:off x="5090008" y="3246120"/>
            <a:ext cx="2011680" cy="1417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388" y="341071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90008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Outlier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181448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· LOF · Z · AE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101688" y="3950208"/>
            <a:ext cx="246888" cy="0"/>
          </a:xfrm>
          <a:prstGeom prst="line">
            <a:avLst/>
          </a:prstGeom>
          <a:noFill/>
          <a:ln w="1905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18"/>
          <p:cNvSpPr/>
          <p:nvPr/>
        </p:nvSpPr>
        <p:spPr>
          <a:xfrm>
            <a:off x="7348576" y="3246120"/>
            <a:ext cx="2011680" cy="1417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956" y="3410712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48576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440016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business rules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9360256" y="3950208"/>
            <a:ext cx="246888" cy="0"/>
          </a:xfrm>
          <a:prstGeom prst="line">
            <a:avLst/>
          </a:prstGeom>
          <a:noFill/>
          <a:ln w="1905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2"/>
          <p:cNvSpPr/>
          <p:nvPr/>
        </p:nvSpPr>
        <p:spPr>
          <a:xfrm>
            <a:off x="9607144" y="3246120"/>
            <a:ext cx="2011680" cy="141732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1524" y="3410712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607144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9698584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LLM narratives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48640" y="4846320"/>
            <a:ext cx="11064240" cy="59436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26"/>
          <p:cNvSpPr/>
          <p:nvPr/>
        </p:nvSpPr>
        <p:spPr>
          <a:xfrm>
            <a:off x="777240" y="49011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 H A R E D   S T A T 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200400" y="49011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(LangGraph TypedDict)  df_raw · df_features · df_baseline · df_anomalies · df_risk · report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0868" y="5623560"/>
            <a:ext cx="361188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29"/>
          <p:cNvSpPr/>
          <p:nvPr/>
        </p:nvSpPr>
        <p:spPr>
          <a:xfrm>
            <a:off x="540868" y="57150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 s o l a t i o n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78028" y="60076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agent imports another — communicate only via state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4289908" y="5623560"/>
            <a:ext cx="361188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2"/>
          <p:cNvSpPr/>
          <p:nvPr/>
        </p:nvSpPr>
        <p:spPr>
          <a:xfrm>
            <a:off x="4289908" y="57150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 o d u l a r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4427068" y="60076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agent re-runnable independently · failure-isolated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8038948" y="5623560"/>
            <a:ext cx="361188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35"/>
          <p:cNvSpPr/>
          <p:nvPr/>
        </p:nvSpPr>
        <p:spPr>
          <a:xfrm>
            <a:off x="8038948" y="57150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p e r a b l e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8176108" y="60076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runtime perimeter filter · LLM only when needed · 1.6 s end-to-end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4 conditional edges — honest reading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truly route the common case · 2 are guard rails for degenerate input.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EDGE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DECISION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CHARACTER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FIRES ON 2024?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after_baseline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n_features &lt; 5  OR  std &lt; 0.01 → END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Guard rail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No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after_outlier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n_alta ≥ 5 → Supervisor,  else → Risk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Operative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Yes (17 ALTA)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after_supervisor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downgrade &gt; 50%  AND  iter &lt; 2 → cycle to Outlier,  else Risk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Theoretical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No (29% rate)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after_risk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ALTA/MEDIA present  AND  run_report → Report,  else END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Operative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Yes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406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52120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Defending honestly is the point.  A 2-route perimeter (filter by country = Algeria) must not crash — guard rails earn their keep there, not on the standard 2024 run.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GRAPH LOGIC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models — weighted ensemble + audit + surrogate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in the score · 1 audit-only · 1 SHAP surrogate.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 N S E M B L E   W E I G H T 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57400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691640"/>
            <a:ext cx="594360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5715000" y="1691640"/>
            <a:ext cx="1188720" cy="100584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5715000" y="16916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0.35  ·  IF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0" y="18013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IsolationForest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40880" y="21214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Tree-based, path-length isolation.  Industry standard.  n_estimators=200, contamination=0.10.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15000" y="2807208"/>
            <a:ext cx="594360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5715000" y="2807208"/>
            <a:ext cx="1188720" cy="100584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5715000" y="280720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0.30  ·  LOF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0880" y="291693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LocalOutlierFactor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40880" y="323697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Density vs k-neighbours (k=20).  Catches local anomalies near a cluster that IF misses.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15000" y="3922776"/>
            <a:ext cx="594360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5715000" y="3922776"/>
            <a:ext cx="1188720" cy="100584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5715000" y="3922776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0.20  ·  AE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40880" y="403250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Autoencoder (MLP 11→8→4→8→11)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0" y="4352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Semi-supervised (normals from IF).  Captures non-linear interactions IF/LOF/Z miss.  Auto-disabled if &lt;30 normals.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15000" y="5038344"/>
            <a:ext cx="594360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19"/>
          <p:cNvSpPr/>
          <p:nvPr/>
        </p:nvSpPr>
        <p:spPr>
          <a:xfrm>
            <a:off x="5715000" y="5038344"/>
            <a:ext cx="1188720" cy="100584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0"/>
          <p:cNvSpPr/>
          <p:nvPr/>
        </p:nvSpPr>
        <p:spPr>
          <a:xfrm>
            <a:off x="5715000" y="5038344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0.15  ·  Z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040880" y="514807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Robust MAD z-score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040880" y="54681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median ± 1.4826·MAD per feature, |z|.mean → score.  Fallback to std when MAD=0 (sparse features).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business rules — the symbolic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br_score = mean. Combined with ML: 60% ML + 40% rules → confidence → final_risk.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RULE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CONDITION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BUSINESS MEANING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br_high_interpol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pct_interpol ≥ 0.30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Suspicious Interpol alarm rate.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br_high_rejection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tasso_respinti ≥ 0.25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Many rejections — active pattern.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br_low_closure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tot_allarmi_log &gt; 3  AND  tasso_chiusura &lt; 0.10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Many alarms, almost none closed.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br_multi_source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pct_interpol &gt; 0  AND  pct_sdi &gt; 0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Alarms from multiple sources — stronger signal.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br_high_alarm_rate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tasso_allarme_medio ≥ 0.50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294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Average alarm rate above operational threshold.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3"/>
          <p:cNvSpPr/>
          <p:nvPr/>
        </p:nvSpPr>
        <p:spPr>
          <a:xfrm>
            <a:off x="77724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 I N A L   R I S 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0" y="5349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confidence = 0.6 · ensemble_score + 0.4 · br_score   →   { CRITICO · ALTO · MEDIO · BASSO }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design choices we will defend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3728" y="15544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792328" y="1874520"/>
            <a:ext cx="777240" cy="77724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792328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52448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MAD over Tukey IQR for the ensemble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52448" y="20848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MAD is robust + composes into a scalar score. Tukey kept as audit (flag_&lt;feature&gt;) for analysts.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6415888" y="1874520"/>
            <a:ext cx="777240" cy="77724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6415888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76008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Ensemble of 4, not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76008" y="20848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Spec said "IF or LOF or Z". We added an Autoencoder for non-linear interactions. +15% runtime.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728" y="31546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792328" y="3474720"/>
            <a:ext cx="777240" cy="77724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792328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52448" y="3319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FeatureBuilder inside DataAgent (5, not 6)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52448" y="36850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Spec mandates 5 agents. Folding feature build into Data keeps topology honest.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7288" y="31546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6415888" y="3474720"/>
            <a:ext cx="777240" cy="77724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6415888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76008" y="3319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STL, no rolling-mean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76008" y="36850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Only 3 months of data. STL needs ≥12 obs. Replaced with linear trend slope per route.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3728" y="47548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792328" y="5074920"/>
            <a:ext cx="777240" cy="77724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792328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752448" y="49194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Supervisor as verifier, not 6th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52448" y="52852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Refit IF @ contamination=3% on ALTA. Optional, fires only if ≥5 ALTA. Adds an alta_robusta tag.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7288" y="47548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6415888" y="5074920"/>
            <a:ext cx="777240" cy="777240"/>
          </a:xfrm>
          <a:prstGeom prst="ellipse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6415888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376008" y="49194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LLM always-on for Report, lazy for Data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76008" y="52852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Pay LLM cost only where it adds value (narratives), not where deterministic code already works.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09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Results — detection on 2024 perimeter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567 routes, identical distribution under both architectures.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83080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548640" y="1947672"/>
            <a:ext cx="1783080" cy="184708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828800"/>
            <a:ext cx="1783080" cy="1188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2468880" y="1947672"/>
            <a:ext cx="1783080" cy="184708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2468880" y="21031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51460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1783080" cy="1188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4389120" y="1947672"/>
            <a:ext cx="1783080" cy="184708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4389120" y="21031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510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443484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NORMALE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normal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897880" cy="201168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 U N T I M 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Classical    </a:t>
            </a: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~3.0 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Multi-agent  </a:t>
            </a: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~1.6 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715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end-to-end · 567 routes · no LLM call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Distribution — 567 routes</a:t>
            </a:r>
            <a:endParaRPr lang="en-US" sz="13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6583680" y="2057400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Convergence — 98.24% architectural agreement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the numbers diverged, one pipeline would be buggy. They don't. Cross-validation = free regression test.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3200400"/>
          </a:xfrm>
          <a:prstGeom prst="rect">
            <a:avLst/>
          </a:prstGeom>
          <a:solidFill>
            <a:srgbClr val="0E2942"/>
          </a:solidFill>
          <a:ln w="12700">
            <a:solidFill>
              <a:srgbClr val="0E294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 A B E L   A G R E E M E N 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98.24%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557 / 567 routes — identical label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residual 1.8% sits at the MEDIA / NORMALE boundary,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entirely driven by AE training stochasticity.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Pearson r per component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852160" y="2148840"/>
          <a:ext cx="58521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40868" y="5166360"/>
            <a:ext cx="3611880" cy="914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540868" y="5257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 o o t s t r a p   C 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8028" y="55504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1000 resamples @ 80% on the agreement metric — implicit regression test.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89908" y="5166360"/>
            <a:ext cx="3611880" cy="914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2"/>
          <p:cNvSpPr/>
          <p:nvPr/>
        </p:nvSpPr>
        <p:spPr>
          <a:xfrm>
            <a:off x="4289908" y="5257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 h r e s h o l d   s e n s i t i v i t 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27068" y="55504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Perturb the 5 BR thresholds by ±20% — measures decision fragility.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38948" y="5166360"/>
            <a:ext cx="3611880" cy="914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8038948" y="5257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29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 r e n d   s l o p 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6108" y="55504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Linear slope per route on tasso_allarme_medio — pragmatic STL substitute.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r>
              <a:rPr lang="en-US" sz="900" dirty="0">
                <a:solidFill>
                  <a:srgbClr val="B0BAC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</a:t>
            </a:r>
            <a:r>
              <a:rPr lang="en-US" sz="900" kern="0" spc="4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CONVERGENCE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2009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C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 E C O M M E N D A T I O 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Same numbers. Different strengths.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Convergence is the certificate of correctness. The decision is operational.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486400" cy="32004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 I C K   C L A S S I C A L   W H E 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Single one-shot batch run, fixed perimeter.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Auditor needs every intermediate CSV on disk.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Team has no orchestrator stack and wants minimum dependencies.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Lowest cognitive overhead for analysts reading the code.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697480"/>
            <a:ext cx="5486400" cy="3200400"/>
          </a:xfrm>
          <a:prstGeom prst="rect">
            <a:avLst/>
          </a:prstGeom>
          <a:solidFill>
            <a:srgbClr val="2C7DB5"/>
          </a:solidFill>
          <a:ln w="12700">
            <a:solidFill>
              <a:srgbClr val="2C7DB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 I C K   M U L T I - A G E N T   W H E 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Runtime perimeter changes (interactive Streamlit, what-ifs).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Need granular re-run of one stage without restarting the chain.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Failure isolation matters (LLM down ≠ pipeline down).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Per-route narrative explanations are part of the deliverable.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FE1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Thank you   · 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1854</Words>
  <Application>Microsoft Macintosh PowerPoint</Application>
  <PresentationFormat>Widescreen</PresentationFormat>
  <Paragraphs>264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Classical vs Multi-Agent Anomaly Detection</dc:title>
  <dc:subject>PptxGenJS Presentation</dc:subject>
  <dc:creator>Reply x Luiss</dc:creator>
  <cp:lastModifiedBy>Daniele Giovanardi</cp:lastModifiedBy>
  <cp:revision>1</cp:revision>
  <dcterms:created xsi:type="dcterms:W3CDTF">2026-05-04T22:08:52Z</dcterms:created>
  <dcterms:modified xsi:type="dcterms:W3CDTF">2026-05-05T06:33:52Z</dcterms:modified>
</cp:coreProperties>
</file>